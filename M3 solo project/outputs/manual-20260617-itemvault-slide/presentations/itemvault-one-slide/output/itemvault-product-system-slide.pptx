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eabda3dc3487d" /><Relationship Type="http://schemas.openxmlformats.org/officeDocument/2006/relationships/extended-properties" Target="/docProps/app.xml" Id="Rf17ef2d9d1624585" /><Relationship Type="http://schemas.openxmlformats.org/officeDocument/2006/relationships/officeDocument" Target="/ppt/presentation.xml" Id="R51157fecd62c42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8ffd32f25f4c42"/>
  </p:sldMasterIdLst>
  <p:notesMasterIdLst>
    <p:notesMasterId xmlns:r="http://schemas.openxmlformats.org/officeDocument/2006/relationships" r:id="R4c0187b31fe5413f"/>
  </p:notesMasterIdLst>
  <p:sldIdLst>
    <p:sldId xmlns:r="http://schemas.openxmlformats.org/officeDocument/2006/relationships" id="256" r:id="R68a1d6e5d4d64f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ffd32f25f4c42" /><Relationship Type="http://schemas.openxmlformats.org/officeDocument/2006/relationships/theme" Target="/ppt/theme/theme1.xml" Id="R6c228aa70d7744f9" /><Relationship Type="http://schemas.openxmlformats.org/officeDocument/2006/relationships/notesMaster" Target="/ppt/notesMasters/notesMaster1.xml" Id="R4c0187b31fe5413f" /><Relationship Type="http://schemas.openxmlformats.org/officeDocument/2006/relationships/presProps" Target="/ppt/presProps.xml" Id="R3d71f582c8f8470b" /><Relationship Type="http://schemas.openxmlformats.org/officeDocument/2006/relationships/viewProps" Target="/ppt/viewProps.xml" Id="R2177b7a0279f4db5" /><Relationship Type="http://schemas.openxmlformats.org/officeDocument/2006/relationships/tableStyles" Target="/ppt/tableStyles.xml" Id="R2f89e286f16a48bc" /><Relationship Type="http://schemas.openxmlformats.org/officeDocument/2006/relationships/slide" Target="/ppt/slides/slide1.xml" Id="R68a1d6e5d4d6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79f9d84ab4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64c51fa174586" /><Relationship Type="http://schemas.openxmlformats.org/officeDocument/2006/relationships/notesMaster" Target="/ppt/notesMasters/notesMaster1.xml" Id="Rfc7936b5daec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509e8be1c44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01dd5eeefe4c56" /><Relationship Type="http://schemas.openxmlformats.org/officeDocument/2006/relationships/slideLayout" Target="/ppt/slideLayouts/slideLayout2.xml" Id="R869b4abd9e2148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9b4abd9e2148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0092f6e3149f0" /><Relationship Type="http://schemas.openxmlformats.org/officeDocument/2006/relationships/notesSlide" Target="/ppt/notesSlides/notesSlide1.xml" Id="R29b55dbd87bb4c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41C85AD-7808-476C-A425-23316D5E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primary-rule">
            <a:extLst xmlns:a="http://schemas.openxmlformats.org/drawingml/2006/main">
              <a:ext uri="{FF2B5EF4-FFF2-40B4-BE49-F238E27FC236}">
                <a16:creationId xmlns:a16="http://schemas.microsoft.com/office/drawing/2014/main" id="{A47A7CFA-D710-457B-9F0A-C87BB41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6EF96E-4E28-4398-B6C4-5B6136FD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B1406C-90F3-45AC-B852-2E36E179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86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730A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730A3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5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0BA58D2-1DDE-4A50-81DC-4A1D1E77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4238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ItemVault turns scattered belongings into secure, searchable inventory.</a:t>
            </a:r>
          </a:p>
        </p:txBody>
      </p:sp>
      <p:sp>
        <p:nvSpPr>
          <p:cNvPr id="6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6A14F60C-BA08-43A2-B886-E4F4609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381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A short protected workflow links item capture, Firebase-backed ownership, dashboard search, and edit/delete actions so users can find what they own by category, location, or status.</a:t>
            </a:r>
          </a:p>
        </p:txBody>
      </p:sp>
      <p:sp>
        <p:nvSpPr>
          <p:cNvPr id="7" name="value-callout-box">
            <a:extLst xmlns:a="http://schemas.openxmlformats.org/drawingml/2006/main">
              <a:ext uri="{FF2B5EF4-FFF2-40B4-BE49-F238E27FC236}">
                <a16:creationId xmlns:a16="http://schemas.microsoft.com/office/drawing/2014/main" id="{E7D75386-6D38-4E3E-9C55-DE7E4B3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35623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value-callout-label">
            <a:extLst xmlns:a="http://schemas.openxmlformats.org/drawingml/2006/main">
              <a:ext uri="{FF2B5EF4-FFF2-40B4-BE49-F238E27FC236}">
                <a16:creationId xmlns:a16="http://schemas.microsoft.com/office/drawing/2014/main" id="{473CC58F-604C-43AA-94F7-A0C908F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4340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30A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730A3"/>
                </a:solidFill>
                <a:latin typeface="Aptos"/>
                <a:ea typeface="Aptos"/>
                <a:cs typeface="Aptos"/>
              </a:rPr>
              <a:t>Core user outcome</a:t>
            </a:r>
          </a:p>
        </p:txBody>
      </p:sp>
      <p:sp>
        <p:nvSpPr>
          <p:cNvPr id="9" name="value-callout-text">
            <a:extLst xmlns:a="http://schemas.openxmlformats.org/drawingml/2006/main">
              <a:ext uri="{FF2B5EF4-FFF2-40B4-BE49-F238E27FC236}">
                <a16:creationId xmlns:a16="http://schemas.microsoft.com/office/drawing/2014/main" id="{E3AF7671-ECAA-4643-8AB4-0E87D2F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Less time hunting for belongings, more confidence in what is owned and where it lives.</a:t>
            </a:r>
          </a:p>
        </p:txBody>
      </p:sp>
      <p:sp>
        <p:nvSpPr>
          <p:cNvPr id="10" name="proof-panel">
            <a:extLst xmlns:a="http://schemas.openxmlformats.org/drawingml/2006/main">
              <a:ext uri="{FF2B5EF4-FFF2-40B4-BE49-F238E27FC236}">
                <a16:creationId xmlns:a16="http://schemas.microsoft.com/office/drawing/2014/main" id="{6C1994D8-BDDC-46A9-8BD1-E80ABC7E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781050"/>
            <a:ext cx="56578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proof-panel-title">
            <a:extLst xmlns:a="http://schemas.openxmlformats.org/drawingml/2006/main">
              <a:ext uri="{FF2B5EF4-FFF2-40B4-BE49-F238E27FC236}">
                <a16:creationId xmlns:a16="http://schemas.microsoft.com/office/drawing/2014/main" id="{613B8B4E-13D0-4F98-9A9E-E4D4F63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066800"/>
            <a:ext cx="4095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How ItemVault creates control</a:t>
            </a:r>
          </a:p>
        </p:txBody>
      </p:sp>
      <p:sp>
        <p:nvSpPr>
          <p:cNvPr id="12" name="proof-panel-subtitle">
            <a:extLst xmlns:a="http://schemas.openxmlformats.org/drawingml/2006/main">
              <a:ext uri="{FF2B5EF4-FFF2-40B4-BE49-F238E27FC236}">
                <a16:creationId xmlns:a16="http://schemas.microsoft.com/office/drawing/2014/main" id="{42F3D95B-6E5A-47F5-BE8D-F268F3F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464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Each stage adds structure: capture details, scope records to the signed-in user, then retrieve and update items quickly.</a:t>
            </a:r>
          </a:p>
        </p:txBody>
      </p:sp>
      <p:sp>
        <p:nvSpPr>
          <p:cNvPr id="13" name="workflow-1-box">
            <a:extLst xmlns:a="http://schemas.openxmlformats.org/drawingml/2006/main">
              <a:ext uri="{FF2B5EF4-FFF2-40B4-BE49-F238E27FC236}">
                <a16:creationId xmlns:a16="http://schemas.microsoft.com/office/drawing/2014/main" id="{7DE500C2-B8AC-4896-AC6D-0F00590E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4310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workflow-1-marker">
            <a:extLst xmlns:a="http://schemas.openxmlformats.org/drawingml/2006/main">
              <a:ext uri="{FF2B5EF4-FFF2-40B4-BE49-F238E27FC236}">
                <a16:creationId xmlns:a16="http://schemas.microsoft.com/office/drawing/2014/main" id="{9A3EDC59-6957-4E11-9DB9-544C32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workflow-1-number">
            <a:extLst xmlns:a="http://schemas.openxmlformats.org/drawingml/2006/main">
              <a:ext uri="{FF2B5EF4-FFF2-40B4-BE49-F238E27FC236}">
                <a16:creationId xmlns:a16="http://schemas.microsoft.com/office/drawing/2014/main" id="{36301DD1-A7C3-4196-A8EF-5E251DFE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workflow-1-title">
            <a:extLst xmlns:a="http://schemas.openxmlformats.org/drawingml/2006/main">
              <a:ext uri="{FF2B5EF4-FFF2-40B4-BE49-F238E27FC236}">
                <a16:creationId xmlns:a16="http://schemas.microsoft.com/office/drawing/2014/main" id="{6FAD0E20-2179-4903-AF5A-8DD5830F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859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Capture item</a:t>
            </a:r>
          </a:p>
        </p:txBody>
      </p:sp>
      <p:sp>
        <p:nvSpPr>
          <p:cNvPr id="17" name="workflow-1-body">
            <a:extLst xmlns:a="http://schemas.openxmlformats.org/drawingml/2006/main">
              <a:ext uri="{FF2B5EF4-FFF2-40B4-BE49-F238E27FC236}">
                <a16:creationId xmlns:a16="http://schemas.microsoft.com/office/drawing/2014/main" id="{F300918D-176B-40A9-9239-3AE89DC8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Name, category, price, condition, location, date, image, notes.</a:t>
            </a:r>
          </a:p>
        </p:txBody>
      </p:sp>
      <p:sp>
        <p:nvSpPr>
          <p:cNvPr id="18" name="workflow-2-box">
            <a:extLst xmlns:a="http://schemas.openxmlformats.org/drawingml/2006/main">
              <a:ext uri="{FF2B5EF4-FFF2-40B4-BE49-F238E27FC236}">
                <a16:creationId xmlns:a16="http://schemas.microsoft.com/office/drawing/2014/main" id="{033FDC54-BADF-422B-9747-C31FAD7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workflow-2-marker">
            <a:extLst xmlns:a="http://schemas.openxmlformats.org/drawingml/2006/main">
              <a:ext uri="{FF2B5EF4-FFF2-40B4-BE49-F238E27FC236}">
                <a16:creationId xmlns:a16="http://schemas.microsoft.com/office/drawing/2014/main" id="{26A68FC8-0C06-43D5-AB7E-4B208E5C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30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workflow-2-number">
            <a:extLst xmlns:a="http://schemas.openxmlformats.org/drawingml/2006/main">
              <a:ext uri="{FF2B5EF4-FFF2-40B4-BE49-F238E27FC236}">
                <a16:creationId xmlns:a16="http://schemas.microsoft.com/office/drawing/2014/main" id="{5E47746E-F36B-4331-92D5-D0F5B38B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workflow-2-title">
            <a:extLst xmlns:a="http://schemas.openxmlformats.org/drawingml/2006/main">
              <a:ext uri="{FF2B5EF4-FFF2-40B4-BE49-F238E27FC236}">
                <a16:creationId xmlns:a16="http://schemas.microsoft.com/office/drawing/2014/main" id="{D0D40BC5-B2B0-49CD-A8A3-03921C1E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Protect data</a:t>
            </a:r>
          </a:p>
        </p:txBody>
      </p:sp>
      <p:sp>
        <p:nvSpPr>
          <p:cNvPr id="22" name="workflow-2-body">
            <a:extLst xmlns:a="http://schemas.openxmlformats.org/drawingml/2006/main">
              <a:ext uri="{FF2B5EF4-FFF2-40B4-BE49-F238E27FC236}">
                <a16:creationId xmlns:a16="http://schemas.microsoft.com/office/drawing/2014/main" id="{F9A45D2C-5983-4722-9747-572ED46A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Auth gates inventory routes; each record is tied to userId.</a:t>
            </a:r>
          </a:p>
        </p:txBody>
      </p:sp>
      <p:sp>
        <p:nvSpPr>
          <p:cNvPr id="23" name="workflow-3-box">
            <a:extLst xmlns:a="http://schemas.openxmlformats.org/drawingml/2006/main">
              <a:ext uri="{FF2B5EF4-FFF2-40B4-BE49-F238E27FC236}">
                <a16:creationId xmlns:a16="http://schemas.microsoft.com/office/drawing/2014/main" id="{61AE4F48-8467-4B85-AA44-4E3F4118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workflow-3-marker">
            <a:extLst xmlns:a="http://schemas.openxmlformats.org/drawingml/2006/main">
              <a:ext uri="{FF2B5EF4-FFF2-40B4-BE49-F238E27FC236}">
                <a16:creationId xmlns:a16="http://schemas.microsoft.com/office/drawing/2014/main" id="{174B2497-7A72-4FA5-B48E-F4B0D35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369A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workflow-3-number">
            <a:extLst xmlns:a="http://schemas.openxmlformats.org/drawingml/2006/main">
              <a:ext uri="{FF2B5EF4-FFF2-40B4-BE49-F238E27FC236}">
                <a16:creationId xmlns:a16="http://schemas.microsoft.com/office/drawing/2014/main" id="{5A24DEB1-6BBD-4FFB-B4CD-EF26341B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workflow-3-title">
            <a:extLst xmlns:a="http://schemas.openxmlformats.org/drawingml/2006/main">
              <a:ext uri="{FF2B5EF4-FFF2-40B4-BE49-F238E27FC236}">
                <a16:creationId xmlns:a16="http://schemas.microsoft.com/office/drawing/2014/main" id="{EF79409E-DC05-4184-85C4-14E0FF07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004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Find fast</a:t>
            </a:r>
          </a:p>
        </p:txBody>
      </p:sp>
      <p:sp>
        <p:nvSpPr>
          <p:cNvPr id="27" name="workflow-3-body">
            <a:extLst xmlns:a="http://schemas.openxmlformats.org/drawingml/2006/main">
              <a:ext uri="{FF2B5EF4-FFF2-40B4-BE49-F238E27FC236}">
                <a16:creationId xmlns:a16="http://schemas.microsoft.com/office/drawing/2014/main" id="{D175FE9B-83AD-48D9-8480-2DEBA20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Search by item, category, status, location, and sort order.</a:t>
            </a:r>
          </a:p>
        </p:txBody>
      </p:sp>
      <p:sp>
        <p:nvSpPr>
          <p:cNvPr id="28" name="workflow-4-box">
            <a:extLst xmlns:a="http://schemas.openxmlformats.org/drawingml/2006/main">
              <a:ext uri="{FF2B5EF4-FFF2-40B4-BE49-F238E27FC236}">
                <a16:creationId xmlns:a16="http://schemas.microsoft.com/office/drawing/2014/main" id="{712E40B8-A825-489B-8536-4DB68DE5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1485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workflow-4-marker">
            <a:extLst xmlns:a="http://schemas.openxmlformats.org/drawingml/2006/main">
              <a:ext uri="{FF2B5EF4-FFF2-40B4-BE49-F238E27FC236}">
                <a16:creationId xmlns:a16="http://schemas.microsoft.com/office/drawing/2014/main" id="{0D101F2E-DFE3-469B-BCFB-6EC704F9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workflow-4-number">
            <a:extLst xmlns:a="http://schemas.openxmlformats.org/drawingml/2006/main">
              <a:ext uri="{FF2B5EF4-FFF2-40B4-BE49-F238E27FC236}">
                <a16:creationId xmlns:a16="http://schemas.microsoft.com/office/drawing/2014/main" id="{D2B6A153-2BC3-489D-9B2C-073E0755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815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workflow-4-title">
            <a:extLst xmlns:a="http://schemas.openxmlformats.org/drawingml/2006/main">
              <a:ext uri="{FF2B5EF4-FFF2-40B4-BE49-F238E27FC236}">
                <a16:creationId xmlns:a16="http://schemas.microsoft.com/office/drawing/2014/main" id="{C80193DD-36DD-4D99-85EC-7D2B41BD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77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Take action</a:t>
            </a:r>
          </a:p>
        </p:txBody>
      </p:sp>
      <p:sp>
        <p:nvSpPr>
          <p:cNvPr id="32" name="workflow-4-body">
            <a:extLst xmlns:a="http://schemas.openxmlformats.org/drawingml/2006/main">
              <a:ext uri="{FF2B5EF4-FFF2-40B4-BE49-F238E27FC236}">
                <a16:creationId xmlns:a16="http://schemas.microsoft.com/office/drawing/2014/main" id="{43E56DB8-D541-4346-B8FD-A01E2733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1490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View details, edit records, or delete items from focused screens.</a:t>
            </a:r>
          </a:p>
        </p:txBody>
      </p:sp>
      <p:sp>
        <p:nvSpPr>
          <p:cNvPr id="33" name="connector-1-to-2">
            <a:extLst xmlns:a="http://schemas.openxmlformats.org/drawingml/2006/main">
              <a:ext uri="{FF2B5EF4-FFF2-40B4-BE49-F238E27FC236}">
                <a16:creationId xmlns:a16="http://schemas.microsoft.com/office/drawing/2014/main" id="{EFE167C0-0253-4075-B9F0-89279324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connector-2-to-3">
            <a:extLst xmlns:a="http://schemas.openxmlformats.org/drawingml/2006/main">
              <a:ext uri="{FF2B5EF4-FFF2-40B4-BE49-F238E27FC236}">
                <a16:creationId xmlns:a16="http://schemas.microsoft.com/office/drawing/2014/main" id="{839B6A42-09B1-4CB7-A673-C7780A2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connector-3-to-4">
            <a:extLst xmlns:a="http://schemas.openxmlformats.org/drawingml/2006/main">
              <a:ext uri="{FF2B5EF4-FFF2-40B4-BE49-F238E27FC236}">
                <a16:creationId xmlns:a16="http://schemas.microsoft.com/office/drawing/2014/main" id="{93134A83-6BB0-4271-8A23-09F82B8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chip-owned">
            <a:extLst xmlns:a="http://schemas.openxmlformats.org/drawingml/2006/main">
              <a:ext uri="{FF2B5EF4-FFF2-40B4-BE49-F238E27FC236}">
                <a16:creationId xmlns:a16="http://schemas.microsoft.com/office/drawing/2014/main" id="{A4A59CC7-747E-49EF-8BF9-9E7E77CE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6260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6534">
              <a:alpha val="13333"/>
            </a:srgbClr>
          </a:solidFill>
          <a:ln xmlns:a="http://schemas.openxmlformats.org/drawingml/2006/main" w="9525">
            <a:solidFill>
              <a:srgbClr val="166534">
                <a:alpha val="33333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BFB639-25AB-4CEB-AD7C-BA9304C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02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Owned</a:t>
            </a:r>
          </a:p>
        </p:txBody>
      </p:sp>
      <p:sp>
        <p:nvSpPr>
          <p:cNvPr id="38" name="chip-borrowed">
            <a:extLst xmlns:a="http://schemas.openxmlformats.org/drawingml/2006/main">
              <a:ext uri="{FF2B5EF4-FFF2-40B4-BE49-F238E27FC236}">
                <a16:creationId xmlns:a16="http://schemas.microsoft.com/office/drawing/2014/main" id="{E98BAFAB-C3C9-4379-9053-2FE7416C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562600"/>
            <a:ext cx="819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369A1">
              <a:alpha val="13333"/>
            </a:srgbClr>
          </a:solidFill>
          <a:ln xmlns:a="http://schemas.openxmlformats.org/drawingml/2006/main" w="9525">
            <a:solidFill>
              <a:srgbClr val="0369A1">
                <a:alpha val="33333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757110-F09A-422D-BE1F-E4EADE1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1022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369A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369A1"/>
                </a:solidFill>
                <a:latin typeface="Aptos"/>
                <a:ea typeface="Aptos"/>
                <a:cs typeface="Aptos"/>
              </a:rPr>
              <a:t>Borrowed</a:t>
            </a:r>
          </a:p>
        </p:txBody>
      </p:sp>
      <p:sp>
        <p:nvSpPr>
          <p:cNvPr id="40" name="chip-lost">
            <a:extLst xmlns:a="http://schemas.openxmlformats.org/drawingml/2006/main">
              <a:ext uri="{FF2B5EF4-FFF2-40B4-BE49-F238E27FC236}">
                <a16:creationId xmlns:a16="http://schemas.microsoft.com/office/drawing/2014/main" id="{FC2E8EEB-C13C-4E9B-A20D-6898EE8B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626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2400E">
              <a:alpha val="13333"/>
            </a:srgbClr>
          </a:solidFill>
          <a:ln xmlns:a="http://schemas.openxmlformats.org/drawingml/2006/main" w="9525">
            <a:solidFill>
              <a:srgbClr val="92400E">
                <a:alpha val="33333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E38370-6DB3-4E73-B8E3-26402D8B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6102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Lost</a:t>
            </a:r>
          </a:p>
        </p:txBody>
      </p:sp>
      <p:sp>
        <p:nvSpPr>
          <p:cNvPr id="42" name="chip-sold">
            <a:extLst xmlns:a="http://schemas.openxmlformats.org/drawingml/2006/main">
              <a:ext uri="{FF2B5EF4-FFF2-40B4-BE49-F238E27FC236}">
                <a16:creationId xmlns:a16="http://schemas.microsoft.com/office/drawing/2014/main" id="{24457612-2890-4735-982B-BD05AC65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6260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91B1B">
              <a:alpha val="13333"/>
            </a:srgbClr>
          </a:solidFill>
          <a:ln xmlns:a="http://schemas.openxmlformats.org/drawingml/2006/main" w="9525">
            <a:solidFill>
              <a:srgbClr val="991B1B">
                <a:alpha val="3333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B6F2AC-450C-4459-9382-15D20942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1022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91B1B"/>
                </a:solidFill>
                <a:latin typeface="Aptos"/>
                <a:ea typeface="Aptos"/>
                <a:cs typeface="Aptos"/>
              </a:rPr>
              <a:t>Sold</a:t>
            </a:r>
          </a:p>
        </p:txBody>
      </p:sp>
      <p:sp>
        <p:nvSpPr>
          <p:cNvPr id="44" name="status-caption">
            <a:extLst xmlns:a="http://schemas.openxmlformats.org/drawingml/2006/main">
              <a:ext uri="{FF2B5EF4-FFF2-40B4-BE49-F238E27FC236}">
                <a16:creationId xmlns:a16="http://schemas.microsoft.com/office/drawing/2014/main" id="{A8991C65-B968-4989-9B27-23A4A74F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591175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3616F"/>
                </a:solidFill>
                <a:latin typeface="Aptos"/>
                <a:ea typeface="Aptos"/>
                <a:cs typeface="Aptos"/>
              </a:rPr>
              <a:t>Status labels keep the dashboard scannable.</a:t>
            </a:r>
          </a:p>
        </p:txBody>
      </p:sp>
      <p:sp>
        <p:nvSpPr>
          <p:cNvPr id="4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8D56C5B-F990-416F-BA4D-AB9280F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72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B8794"/>
                </a:solidFill>
                <a:latin typeface="Aptos"/>
                <a:ea typeface="Aptos"/>
                <a:cs typeface="Aptos"/>
              </a:rPr>
              <a:t>Source: ItemVault design report and app source files.</a:t>
            </a:r>
          </a:p>
        </p:txBody>
      </p:sp>
      <p:sp>
        <p:nvSpPr>
          <p:cNvPr id="4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E010ABE-4E6A-4E1D-BDDF-3719D77A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153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B879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2486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2026-06-17T12:20:20.4180000Z</dcterms:created>
  <dcterms:modified xsi:type="dcterms:W3CDTF">2026-06-17T12:20:20.4180000Z</dcterms:modified>
</coreProperties>
</file>